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70" r:id="rId4"/>
    <p:sldId id="262" r:id="rId5"/>
    <p:sldId id="271" r:id="rId6"/>
    <p:sldId id="264" r:id="rId7"/>
    <p:sldId id="272" r:id="rId8"/>
    <p:sldId id="265" r:id="rId9"/>
    <p:sldId id="266" r:id="rId10"/>
    <p:sldId id="268" r:id="rId11"/>
    <p:sldId id="273" r:id="rId12"/>
    <p:sldId id="274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3F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9" autoAdjust="0"/>
    <p:restoredTop sz="94660"/>
  </p:normalViewPr>
  <p:slideViewPr>
    <p:cSldViewPr snapToGrid="0">
      <p:cViewPr>
        <p:scale>
          <a:sx n="51" d="100"/>
          <a:sy n="51" d="100"/>
        </p:scale>
        <p:origin x="141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7B0233-E5CB-5F3A-41B4-C3C7F642F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BEA160-7182-BD78-5F6D-2E65E258E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74273A-EC5C-E60B-EF01-8FAE242FB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A4611F-5D50-E4A0-1260-CDA866C7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D55972-48FA-837E-F92B-DD494857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77673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A69CC-CE5A-3679-4B61-2A47A4F4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302716-A40D-BCA8-C2A7-211941EBF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3173C2-A280-E352-0231-72CFD1B6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24A0F0-FB0B-F618-B671-07A4A464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CFDFE9-D15E-F6F3-4DBE-75E0BF37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8637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D68E3C-6046-2BEB-9C3D-E836590B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CFA4F-8C5D-7B40-2C2C-DFF44FFB7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460727-D0CC-EA41-ACFC-E91E95A83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2C32DF-A16B-A280-435D-1EA2C767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6830B9-43F0-80D1-04C8-874FE8D2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61064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60541-C9E8-A526-971C-8A3BEB2B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EA70AD-B6A3-C8CA-42D0-00A0EFED0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5BAE50-2CBF-908F-8F21-EA2415F80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9474CF-560C-79EB-E652-1A4E3455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FBE44F-ECF5-86A4-696C-5739271B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36A3DF-DE0F-D1FD-3638-CD1BE0FFA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3410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967606-9FD6-C19E-B465-746E6DCB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EB16DB-C068-BAD2-0AD1-26E681F92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502448-E0D1-1360-0938-8FB18933B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DDB0A2-026B-DC41-D168-232AE3B36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DDB3A4A-4125-96C7-BD38-5D778BCC9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3294DB-C69E-A100-C006-6B9FCD42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C62820F-2827-2750-3D96-C22C16869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04E1C0-3904-8608-C458-F0E989FF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24959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389377-3AE2-71A3-EBDB-3BE1E226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4698D1-0389-7C3D-CB31-B80DECB8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F68B01-0C0E-DE11-D59D-19BA8990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82641B-1A36-ABF9-DD83-31DEE136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79131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EA3C9D4-91AA-02E8-2A5E-3494C6E57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2D7F807-133B-94FC-7D58-864567C3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AF13EF-53FE-DF5D-7B1F-20E984D41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07655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C41916-2938-E0F1-4779-E6F7BB2F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79F29E-CF40-2DEB-45BB-20F1019DE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49E07C-B587-04C4-7D2F-BD08D2B45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3B13C0-39AA-5F03-1EE6-F4F6C6A5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AB3ACE-F593-6BAA-FF34-773FD5DF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8F4420-B4DF-98A4-7572-9D62F458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4134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C2C2E0-AFBC-36DF-8E87-23E824BC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DB1032B-6170-4B31-F496-45D853F80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6FF52F-AE16-17F8-BAA1-12C39B791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6D8BBD-F8A0-BD5C-440C-F8E37EC7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239BC1-118A-C9FF-2C3A-57849A33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0F52C5-4D9F-46C6-D6A1-44F52C9F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4134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29F894-646F-71E3-4180-FCD7EA05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CF72498-F6DE-1556-4473-570DE6962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B2B070-20E2-7453-2BB0-9D84D458F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876970-5D28-DD90-A221-8FB160F9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99DC37-13ED-6D2B-D0D8-6E85142A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98344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B67B02B-E178-639F-55C8-C36039C6EF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2B7D49-CFD2-450C-540A-7849CE4AF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BD2D7E-5A1D-8611-262E-2F263B67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05B7C5-0F06-F00E-B52A-6585870F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7B02D0-6735-C287-2602-CB21B6E6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77910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AF80390-6B0D-EBDF-A948-546808EC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56BA15-587E-141D-1113-D2C25386D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50F47E-2AD8-3D9C-2DE7-7A47E5ECA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DCD94-85E3-4DC4-B1C9-5D827667C2B9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2789E4-9541-D84C-6D0C-3697C5757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BD2684-FFC7-5887-DD3C-BC4F550C3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2FD2B-BE9B-432C-B195-F81FB5BD49D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171485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tdiane1703.github.io/afritalent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3DDB5-4DF9-A274-5C60-47603F04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1A8C6591-E6AD-2049-56BD-BB3245B67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903" y="-661446"/>
            <a:ext cx="14361650" cy="7918431"/>
          </a:xfrm>
          <a:prstGeom prst="rect">
            <a:avLst/>
          </a:prstGeom>
        </p:spPr>
      </p:pic>
      <p:grpSp>
        <p:nvGrpSpPr>
          <p:cNvPr id="71" name="Groupe 70">
            <a:extLst>
              <a:ext uri="{FF2B5EF4-FFF2-40B4-BE49-F238E27FC236}">
                <a16:creationId xmlns:a16="http://schemas.microsoft.com/office/drawing/2014/main" id="{96F903AD-0076-2F69-C7FF-DB09E0EA9E8B}"/>
              </a:ext>
            </a:extLst>
          </p:cNvPr>
          <p:cNvGrpSpPr/>
          <p:nvPr/>
        </p:nvGrpSpPr>
        <p:grpSpPr>
          <a:xfrm>
            <a:off x="5574679" y="856664"/>
            <a:ext cx="8081719" cy="564830"/>
            <a:chOff x="5047973" y="117312"/>
            <a:chExt cx="8081719" cy="5648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1290C3-0ECC-2389-AED0-D7DE0873DD36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602D3BA4-7F04-A08C-401F-031AD5249B01}"/>
                </a:ext>
              </a:extLst>
            </p:cNvPr>
            <p:cNvSpPr txBox="1"/>
            <p:nvPr/>
          </p:nvSpPr>
          <p:spPr>
            <a:xfrm>
              <a:off x="7033692" y="23045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Présentation du projet</a:t>
              </a:r>
              <a:r>
                <a:rPr lang="fr-SN" dirty="0"/>
                <a:t> 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BBDEA42F-AB1E-CB99-1068-E27DE6DF6A12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F07B6E2-1711-D5E2-50DE-6F862602024C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01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88D210DB-B02E-33F9-40BB-63DFEF3BB621}"/>
              </a:ext>
            </a:extLst>
          </p:cNvPr>
          <p:cNvGrpSpPr/>
          <p:nvPr/>
        </p:nvGrpSpPr>
        <p:grpSpPr>
          <a:xfrm>
            <a:off x="6035688" y="4167640"/>
            <a:ext cx="9448373" cy="564830"/>
            <a:chOff x="5047973" y="117312"/>
            <a:chExt cx="8708429" cy="56483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79E19FC-6603-89B3-E120-B57AEAFCA2FD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53F9F284-C695-7625-5355-A0C72242271E}"/>
                </a:ext>
              </a:extLst>
            </p:cNvPr>
            <p:cNvSpPr txBox="1"/>
            <p:nvPr/>
          </p:nvSpPr>
          <p:spPr>
            <a:xfrm>
              <a:off x="7660402" y="266492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Conclusion </a:t>
              </a:r>
              <a:r>
                <a:rPr lang="fr-SN" dirty="0"/>
                <a:t> </a:t>
              </a:r>
            </a:p>
          </p:txBody>
        </p:sp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4A75374B-B671-53EE-CC34-AB06E1EBF1E4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76" name="ZoneTexte 75">
              <a:extLst>
                <a:ext uri="{FF2B5EF4-FFF2-40B4-BE49-F238E27FC236}">
                  <a16:creationId xmlns:a16="http://schemas.microsoft.com/office/drawing/2014/main" id="{6F336730-F545-E844-20BE-80C58FCBB4F1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04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A6B0C57F-F8D9-A68F-932F-E23C17716252}"/>
              </a:ext>
            </a:extLst>
          </p:cNvPr>
          <p:cNvGrpSpPr/>
          <p:nvPr/>
        </p:nvGrpSpPr>
        <p:grpSpPr>
          <a:xfrm>
            <a:off x="6320011" y="1971148"/>
            <a:ext cx="7189022" cy="564830"/>
            <a:chOff x="5047973" y="117312"/>
            <a:chExt cx="7189022" cy="56483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D06F112-85BF-F117-1318-FE3A034917CF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 dirty="0"/>
            </a:p>
          </p:txBody>
        </p: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A92F2266-9B41-02E8-0F41-E60679947282}"/>
                </a:ext>
              </a:extLst>
            </p:cNvPr>
            <p:cNvSpPr txBox="1"/>
            <p:nvPr/>
          </p:nvSpPr>
          <p:spPr>
            <a:xfrm>
              <a:off x="6140995" y="23101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Architecture et fonctionnement du site</a:t>
              </a:r>
              <a:r>
                <a:rPr lang="fr-SN" dirty="0"/>
                <a:t> </a:t>
              </a:r>
            </a:p>
          </p:txBody>
        </p:sp>
        <p:sp>
          <p:nvSpPr>
            <p:cNvPr id="80" name="Rectangle : coins arrondis 79">
              <a:extLst>
                <a:ext uri="{FF2B5EF4-FFF2-40B4-BE49-F238E27FC236}">
                  <a16:creationId xmlns:a16="http://schemas.microsoft.com/office/drawing/2014/main" id="{CF791CFC-E882-1E8B-0763-1548F74153CD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28D376DD-AFCC-7903-98FD-ECD1A361592A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02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465DBF9A-BBCE-7505-533F-0DEF9F353B1E}"/>
              </a:ext>
            </a:extLst>
          </p:cNvPr>
          <p:cNvGrpSpPr/>
          <p:nvPr/>
        </p:nvGrpSpPr>
        <p:grpSpPr>
          <a:xfrm>
            <a:off x="7224824" y="3090262"/>
            <a:ext cx="7895518" cy="580116"/>
            <a:chOff x="5234174" y="117312"/>
            <a:chExt cx="7895518" cy="580116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E6C9FEE-275C-C82F-CD70-51F6ED4CDC5A}"/>
                </a:ext>
              </a:extLst>
            </p:cNvPr>
            <p:cNvSpPr/>
            <p:nvPr/>
          </p:nvSpPr>
          <p:spPr>
            <a:xfrm>
              <a:off x="5234174" y="196787"/>
              <a:ext cx="5324469" cy="500641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 dirty="0"/>
            </a:p>
          </p:txBody>
        </p:sp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A649C411-2C2F-2240-BB81-0289E4747289}"/>
                </a:ext>
              </a:extLst>
            </p:cNvPr>
            <p:cNvSpPr txBox="1"/>
            <p:nvPr/>
          </p:nvSpPr>
          <p:spPr>
            <a:xfrm>
              <a:off x="6340325" y="260913"/>
              <a:ext cx="67893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Développement et aspects techniques</a:t>
              </a:r>
              <a:r>
                <a:rPr lang="fr-SN" dirty="0"/>
                <a:t> </a:t>
              </a:r>
            </a:p>
          </p:txBody>
        </p:sp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7A4C149D-4DFE-9D76-3E25-A471B4D28D54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0844C481-A464-62A5-9976-4960BDE17905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03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2148BF5-B78E-190F-3AC3-C9180C829314}"/>
              </a:ext>
            </a:extLst>
          </p:cNvPr>
          <p:cNvSpPr/>
          <p:nvPr/>
        </p:nvSpPr>
        <p:spPr>
          <a:xfrm>
            <a:off x="-63217" y="103371"/>
            <a:ext cx="4154905" cy="6556053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chemeClr val="tx2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7F46A92-61DC-0CEA-26C7-522857F0E015}"/>
              </a:ext>
            </a:extLst>
          </p:cNvPr>
          <p:cNvSpPr/>
          <p:nvPr/>
        </p:nvSpPr>
        <p:spPr>
          <a:xfrm rot="2738765">
            <a:off x="1793625" y="741124"/>
            <a:ext cx="5463026" cy="51132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387296C-556C-980B-0E1F-08099295C200}"/>
              </a:ext>
            </a:extLst>
          </p:cNvPr>
          <p:cNvSpPr/>
          <p:nvPr/>
        </p:nvSpPr>
        <p:spPr>
          <a:xfrm rot="2788261">
            <a:off x="2207643" y="1097079"/>
            <a:ext cx="4769454" cy="4440909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B576E5-8308-E635-A8A0-D13BB3B80EE7}"/>
              </a:ext>
            </a:extLst>
          </p:cNvPr>
          <p:cNvSpPr txBox="1"/>
          <p:nvPr/>
        </p:nvSpPr>
        <p:spPr>
          <a:xfrm>
            <a:off x="2650804" y="2843978"/>
            <a:ext cx="67697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SN" sz="6000" b="1" dirty="0">
                <a:solidFill>
                  <a:schemeClr val="tx2"/>
                </a:solidFill>
              </a:rPr>
              <a:t>SOMMAIRE</a:t>
            </a:r>
          </a:p>
        </p:txBody>
      </p:sp>
    </p:spTree>
    <p:extLst>
      <p:ext uri="{BB962C8B-B14F-4D97-AF65-F5344CB8AC3E}">
        <p14:creationId xmlns:p14="http://schemas.microsoft.com/office/powerpoint/2010/main" val="357860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249E-A452-9B0E-F1ED-CD669F62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EE2D0714-F6BC-D45B-A45F-541F94F2F684}"/>
              </a:ext>
            </a:extLst>
          </p:cNvPr>
          <p:cNvGrpSpPr/>
          <p:nvPr/>
        </p:nvGrpSpPr>
        <p:grpSpPr>
          <a:xfrm>
            <a:off x="2987835" y="359689"/>
            <a:ext cx="8931449" cy="564830"/>
            <a:chOff x="5047973" y="117312"/>
            <a:chExt cx="8081719" cy="5648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7228C49-11F7-452A-8E2A-4449D0BDC643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74CA8548-AB7E-4027-D8E2-C533575583F6}"/>
                </a:ext>
              </a:extLst>
            </p:cNvPr>
            <p:cNvSpPr txBox="1"/>
            <p:nvPr/>
          </p:nvSpPr>
          <p:spPr>
            <a:xfrm>
              <a:off x="7033692" y="23045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Présentation du projet</a:t>
              </a:r>
              <a:r>
                <a:rPr lang="fr-SN" dirty="0"/>
                <a:t> 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277A0EDA-528C-8826-CC85-A5491547E662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4AAD0D98-09FF-EAD6-B238-1FADBBC6BD3F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01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F381831-31DB-4A2B-4039-5E07357AEDE1}"/>
              </a:ext>
            </a:extLst>
          </p:cNvPr>
          <p:cNvSpPr/>
          <p:nvPr/>
        </p:nvSpPr>
        <p:spPr>
          <a:xfrm rot="2738765">
            <a:off x="489347" y="2644554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0E496CE-35BD-696E-BF47-A0661F51A071}"/>
              </a:ext>
            </a:extLst>
          </p:cNvPr>
          <p:cNvSpPr/>
          <p:nvPr/>
        </p:nvSpPr>
        <p:spPr>
          <a:xfrm rot="2788261">
            <a:off x="607214" y="2847328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696B2B94-9E4B-35C3-2337-210214740EC6}"/>
              </a:ext>
            </a:extLst>
          </p:cNvPr>
          <p:cNvSpPr/>
          <p:nvPr/>
        </p:nvSpPr>
        <p:spPr>
          <a:xfrm rot="2738765">
            <a:off x="4874130" y="2648565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3E78C35-AE6F-C30E-841C-0239AD7334FA}"/>
              </a:ext>
            </a:extLst>
          </p:cNvPr>
          <p:cNvSpPr/>
          <p:nvPr/>
        </p:nvSpPr>
        <p:spPr>
          <a:xfrm rot="2788261">
            <a:off x="5008300" y="2826149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2E67B9E-3E71-216F-24F5-E553F2027BC1}"/>
              </a:ext>
            </a:extLst>
          </p:cNvPr>
          <p:cNvSpPr/>
          <p:nvPr/>
        </p:nvSpPr>
        <p:spPr>
          <a:xfrm rot="2738765">
            <a:off x="8876994" y="2415067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6DE2B42-6ADE-2D38-EE5F-49D4EEF85A07}"/>
              </a:ext>
            </a:extLst>
          </p:cNvPr>
          <p:cNvSpPr/>
          <p:nvPr/>
        </p:nvSpPr>
        <p:spPr>
          <a:xfrm rot="2788261">
            <a:off x="9035165" y="2617842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8538D9DE-A66E-477A-F3F8-CA89CAB1DF8A}"/>
              </a:ext>
            </a:extLst>
          </p:cNvPr>
          <p:cNvSpPr/>
          <p:nvPr/>
        </p:nvSpPr>
        <p:spPr>
          <a:xfrm>
            <a:off x="3572039" y="3623738"/>
            <a:ext cx="711142" cy="385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D5999AB8-8CDB-01CF-CD2E-3C10A9E4D0E9}"/>
              </a:ext>
            </a:extLst>
          </p:cNvPr>
          <p:cNvSpPr/>
          <p:nvPr/>
        </p:nvSpPr>
        <p:spPr>
          <a:xfrm>
            <a:off x="7804903" y="3577389"/>
            <a:ext cx="711142" cy="385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382B805-A7F3-E4FE-D19D-8F64EE8F6005}"/>
              </a:ext>
            </a:extLst>
          </p:cNvPr>
          <p:cNvSpPr txBox="1"/>
          <p:nvPr/>
        </p:nvSpPr>
        <p:spPr>
          <a:xfrm>
            <a:off x="1010328" y="3577389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CONTEXTE</a:t>
            </a:r>
            <a:endParaRPr lang="fr-SN" sz="2000" b="1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FF93929-3549-A3E2-4BE7-2E3269B91CB0}"/>
              </a:ext>
            </a:extLst>
          </p:cNvPr>
          <p:cNvSpPr txBox="1"/>
          <p:nvPr/>
        </p:nvSpPr>
        <p:spPr>
          <a:xfrm>
            <a:off x="5462697" y="3631990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OBJECTIFS</a:t>
            </a:r>
            <a:endParaRPr lang="fr-SN" sz="2000" b="1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C4EB4D5-DB6C-39B6-0362-E85BB0AD0258}"/>
              </a:ext>
            </a:extLst>
          </p:cNvPr>
          <p:cNvSpPr txBox="1"/>
          <p:nvPr/>
        </p:nvSpPr>
        <p:spPr>
          <a:xfrm>
            <a:off x="9572249" y="3431935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CIBLES</a:t>
            </a:r>
            <a:endParaRPr lang="fr-SN" sz="2000" b="1" dirty="0"/>
          </a:p>
        </p:txBody>
      </p:sp>
    </p:spTree>
    <p:extLst>
      <p:ext uri="{BB962C8B-B14F-4D97-AF65-F5344CB8AC3E}">
        <p14:creationId xmlns:p14="http://schemas.microsoft.com/office/powerpoint/2010/main" val="362796039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1CE7B-AAA8-5CAB-1578-827F16F4E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241B6BAC-2527-378E-50F1-A978BDD3C749}"/>
              </a:ext>
            </a:extLst>
          </p:cNvPr>
          <p:cNvGrpSpPr/>
          <p:nvPr/>
        </p:nvGrpSpPr>
        <p:grpSpPr>
          <a:xfrm>
            <a:off x="2987835" y="359689"/>
            <a:ext cx="8931449" cy="564830"/>
            <a:chOff x="5047973" y="117312"/>
            <a:chExt cx="8081719" cy="5648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A78305E-7B52-ED15-EC9D-3F5AF8FCF48F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AB62C8C3-CCCA-C542-4906-BF41A2994F06}"/>
                </a:ext>
              </a:extLst>
            </p:cNvPr>
            <p:cNvSpPr txBox="1"/>
            <p:nvPr/>
          </p:nvSpPr>
          <p:spPr>
            <a:xfrm>
              <a:off x="7033692" y="23045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Présentation du projet</a:t>
              </a:r>
              <a:r>
                <a:rPr lang="fr-SN" dirty="0"/>
                <a:t> 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057B2194-4656-07C2-EDD3-6818D1132890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FC20C1C-6531-692C-AA96-F74F74FA8ED8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01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843127A-2D4D-1E72-418B-C23116F0DAC9}"/>
              </a:ext>
            </a:extLst>
          </p:cNvPr>
          <p:cNvSpPr/>
          <p:nvPr/>
        </p:nvSpPr>
        <p:spPr>
          <a:xfrm rot="2738765">
            <a:off x="489347" y="2644554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D7B4B74-2ADD-4E2B-1B4B-A0CAC381EE75}"/>
              </a:ext>
            </a:extLst>
          </p:cNvPr>
          <p:cNvSpPr/>
          <p:nvPr/>
        </p:nvSpPr>
        <p:spPr>
          <a:xfrm rot="2788261">
            <a:off x="607214" y="2847328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2B81336-99D5-5A4C-FB82-97A1161664AF}"/>
              </a:ext>
            </a:extLst>
          </p:cNvPr>
          <p:cNvSpPr txBox="1"/>
          <p:nvPr/>
        </p:nvSpPr>
        <p:spPr>
          <a:xfrm>
            <a:off x="1010328" y="3577389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CONTEXTE</a:t>
            </a:r>
            <a:endParaRPr lang="fr-SN" sz="2000" b="1" dirty="0"/>
          </a:p>
        </p:txBody>
      </p:sp>
    </p:spTree>
    <p:extLst>
      <p:ext uri="{BB962C8B-B14F-4D97-AF65-F5344CB8AC3E}">
        <p14:creationId xmlns:p14="http://schemas.microsoft.com/office/powerpoint/2010/main" val="40886994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FC8C-3306-5B80-E5E6-7D37AD16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D107EE84-5A29-285A-75EC-DCCB3ABB2949}"/>
              </a:ext>
            </a:extLst>
          </p:cNvPr>
          <p:cNvGrpSpPr/>
          <p:nvPr/>
        </p:nvGrpSpPr>
        <p:grpSpPr>
          <a:xfrm>
            <a:off x="2987835" y="359689"/>
            <a:ext cx="8081719" cy="564830"/>
            <a:chOff x="5047973" y="117312"/>
            <a:chExt cx="8081719" cy="5648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44895DE-D62D-224A-97D9-35C9272180F5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06A0F36A-2B06-152F-5D57-033CE8D5954D}"/>
                </a:ext>
              </a:extLst>
            </p:cNvPr>
            <p:cNvSpPr txBox="1"/>
            <p:nvPr/>
          </p:nvSpPr>
          <p:spPr>
            <a:xfrm>
              <a:off x="7033692" y="23045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Présentation du projet</a:t>
              </a:r>
              <a:r>
                <a:rPr lang="fr-SN" dirty="0"/>
                <a:t> 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5B8629A-85BE-E561-E0BD-B658060F1303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E36B89A8-59D1-02DE-C3B9-41B892C19A1D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01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751933E-B221-37BB-687E-FAA80AEE6A1A}"/>
              </a:ext>
            </a:extLst>
          </p:cNvPr>
          <p:cNvSpPr/>
          <p:nvPr/>
        </p:nvSpPr>
        <p:spPr>
          <a:xfrm rot="2738765">
            <a:off x="3766563" y="2049971"/>
            <a:ext cx="4194729" cy="4043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03B3A75-6AA3-2C42-78CC-C1BE2892AD4E}"/>
              </a:ext>
            </a:extLst>
          </p:cNvPr>
          <p:cNvSpPr/>
          <p:nvPr/>
        </p:nvSpPr>
        <p:spPr>
          <a:xfrm rot="2788261">
            <a:off x="4029591" y="2344508"/>
            <a:ext cx="3662177" cy="336502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3AD2F76-9E99-F45B-720E-5FD2801579DC}"/>
              </a:ext>
            </a:extLst>
          </p:cNvPr>
          <p:cNvSpPr txBox="1"/>
          <p:nvPr/>
        </p:nvSpPr>
        <p:spPr>
          <a:xfrm>
            <a:off x="4809228" y="2095845"/>
            <a:ext cx="24985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fr-SN" dirty="0"/>
            </a:br>
            <a:r>
              <a:rPr lang="fr-SN" dirty="0"/>
              <a:t> </a:t>
            </a:r>
            <a:r>
              <a:rPr lang="fr-SN" b="1" dirty="0">
                <a:latin typeface="Arial Black" panose="020B0A04020102020204" pitchFamily="34" charset="0"/>
              </a:rPr>
              <a:t>Le secteur du </a:t>
            </a:r>
            <a:r>
              <a:rPr lang="fr-SN" b="1" dirty="0" err="1">
                <a:latin typeface="Arial Black" panose="020B0A04020102020204" pitchFamily="34" charset="0"/>
              </a:rPr>
              <a:t>freelancing</a:t>
            </a:r>
            <a:r>
              <a:rPr lang="fr-SN" b="1" dirty="0">
                <a:latin typeface="Arial Black" panose="020B0A04020102020204" pitchFamily="34" charset="0"/>
              </a:rPr>
              <a:t> tech connaît une forte croissance en Afrique.</a:t>
            </a:r>
          </a:p>
          <a:p>
            <a:br>
              <a:rPr lang="fr-SN" b="1" dirty="0">
                <a:latin typeface="Arial Black" panose="020B0A04020102020204" pitchFamily="34" charset="0"/>
              </a:rPr>
            </a:br>
            <a:r>
              <a:rPr lang="fr-SN" b="1" dirty="0">
                <a:latin typeface="Arial Black" panose="020B0A04020102020204" pitchFamily="34" charset="0"/>
              </a:rPr>
              <a:t> Les entreprises recherchent des profils qualifiés pour leurs projets numériques.</a:t>
            </a:r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4E6A2164-0E03-E33A-0641-4FD21D345423}"/>
              </a:ext>
            </a:extLst>
          </p:cNvPr>
          <p:cNvSpPr/>
          <p:nvPr/>
        </p:nvSpPr>
        <p:spPr>
          <a:xfrm>
            <a:off x="4285096" y="3092116"/>
            <a:ext cx="449179" cy="2366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A3C38EA2-0BA3-F58C-4261-F27A34C98469}"/>
              </a:ext>
            </a:extLst>
          </p:cNvPr>
          <p:cNvSpPr/>
          <p:nvPr/>
        </p:nvSpPr>
        <p:spPr>
          <a:xfrm>
            <a:off x="4285096" y="4205898"/>
            <a:ext cx="449179" cy="236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3827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854E-B8B6-018C-A7F1-58657EB08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73C02D3-5A3B-33EF-8942-347B0BFFCE8E}"/>
              </a:ext>
            </a:extLst>
          </p:cNvPr>
          <p:cNvGrpSpPr/>
          <p:nvPr/>
        </p:nvGrpSpPr>
        <p:grpSpPr>
          <a:xfrm>
            <a:off x="2987835" y="359689"/>
            <a:ext cx="8931449" cy="564830"/>
            <a:chOff x="5047973" y="117312"/>
            <a:chExt cx="8081719" cy="5648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4854199-9F3F-C913-2B46-2B0DD90256BF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D5D8BB48-55BB-26C4-17C1-A80C6744ADDD}"/>
                </a:ext>
              </a:extLst>
            </p:cNvPr>
            <p:cNvSpPr txBox="1"/>
            <p:nvPr/>
          </p:nvSpPr>
          <p:spPr>
            <a:xfrm>
              <a:off x="7033692" y="23045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Présentation du projet</a:t>
              </a:r>
              <a:r>
                <a:rPr lang="fr-SN" dirty="0"/>
                <a:t> 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5F2232A-0F9D-0975-2259-35B2C26D9A06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61521A5D-9F2A-D3BA-0F62-046CA13C6606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01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7CD0A48-C0BE-9185-6DA3-3E8702068557}"/>
              </a:ext>
            </a:extLst>
          </p:cNvPr>
          <p:cNvSpPr/>
          <p:nvPr/>
        </p:nvSpPr>
        <p:spPr>
          <a:xfrm rot="2738765">
            <a:off x="489347" y="2644554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BBB5C85-9A81-EE4A-544D-1E260D0D0304}"/>
              </a:ext>
            </a:extLst>
          </p:cNvPr>
          <p:cNvSpPr/>
          <p:nvPr/>
        </p:nvSpPr>
        <p:spPr>
          <a:xfrm rot="2788261">
            <a:off x="607214" y="2847328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3E763B1-76F4-2BA7-3299-C7FD650BA8A0}"/>
              </a:ext>
            </a:extLst>
          </p:cNvPr>
          <p:cNvSpPr/>
          <p:nvPr/>
        </p:nvSpPr>
        <p:spPr>
          <a:xfrm rot="2738765">
            <a:off x="4874130" y="2648565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EAB3F40-09A7-DB54-321D-91A8E9435132}"/>
              </a:ext>
            </a:extLst>
          </p:cNvPr>
          <p:cNvSpPr/>
          <p:nvPr/>
        </p:nvSpPr>
        <p:spPr>
          <a:xfrm rot="2788261">
            <a:off x="5008300" y="2826149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D5DA51F7-E34B-D2AF-5F85-170453A92606}"/>
              </a:ext>
            </a:extLst>
          </p:cNvPr>
          <p:cNvSpPr/>
          <p:nvPr/>
        </p:nvSpPr>
        <p:spPr>
          <a:xfrm>
            <a:off x="3572039" y="3623738"/>
            <a:ext cx="711142" cy="385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6B00634-F2BF-8472-6D40-CFA8E2A6CE2B}"/>
              </a:ext>
            </a:extLst>
          </p:cNvPr>
          <p:cNvSpPr txBox="1"/>
          <p:nvPr/>
        </p:nvSpPr>
        <p:spPr>
          <a:xfrm>
            <a:off x="1010328" y="3577389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CONTEXTE</a:t>
            </a:r>
            <a:endParaRPr lang="fr-SN" sz="2000" b="1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D1C082B-A315-0641-1331-9F08D3A26053}"/>
              </a:ext>
            </a:extLst>
          </p:cNvPr>
          <p:cNvSpPr txBox="1"/>
          <p:nvPr/>
        </p:nvSpPr>
        <p:spPr>
          <a:xfrm>
            <a:off x="5462697" y="3631990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OBJECTIFS</a:t>
            </a:r>
            <a:endParaRPr lang="fr-SN" sz="2000" b="1" dirty="0"/>
          </a:p>
        </p:txBody>
      </p:sp>
    </p:spTree>
    <p:extLst>
      <p:ext uri="{BB962C8B-B14F-4D97-AF65-F5344CB8AC3E}">
        <p14:creationId xmlns:p14="http://schemas.microsoft.com/office/powerpoint/2010/main" val="233912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7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CE5AA-C817-86B9-5BB1-9AEA28BF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7ACC1A20-9AA0-E935-FB61-46EBA537B7E2}"/>
              </a:ext>
            </a:extLst>
          </p:cNvPr>
          <p:cNvSpPr/>
          <p:nvPr/>
        </p:nvSpPr>
        <p:spPr>
          <a:xfrm rot="2738765">
            <a:off x="3433319" y="1845032"/>
            <a:ext cx="4194729" cy="4043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  <a:p>
            <a:pPr algn="ctr"/>
            <a:endParaRPr lang="fr-SN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EF95129-6DEE-6A78-AC17-2684A8D33011}"/>
              </a:ext>
            </a:extLst>
          </p:cNvPr>
          <p:cNvSpPr/>
          <p:nvPr/>
        </p:nvSpPr>
        <p:spPr>
          <a:xfrm rot="2788261">
            <a:off x="3743299" y="2139568"/>
            <a:ext cx="3662177" cy="336502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9009EEC-D104-D3AD-23D5-FB0002BF4C3A}"/>
              </a:ext>
            </a:extLst>
          </p:cNvPr>
          <p:cNvSpPr txBox="1"/>
          <p:nvPr/>
        </p:nvSpPr>
        <p:spPr>
          <a:xfrm>
            <a:off x="4557714" y="2444904"/>
            <a:ext cx="26787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b="1" dirty="0">
                <a:latin typeface="Arial Black" panose="020B0A04020102020204" pitchFamily="34" charset="0"/>
              </a:rPr>
              <a:t>Concevoir une plateforme vitrine mettant en valeur les freelances tech africains.</a:t>
            </a:r>
          </a:p>
          <a:p>
            <a:br>
              <a:rPr lang="fr-SN" b="1" dirty="0">
                <a:latin typeface="Arial Black" panose="020B0A04020102020204" pitchFamily="34" charset="0"/>
              </a:rPr>
            </a:br>
            <a:r>
              <a:rPr lang="fr-SN" b="1" dirty="0">
                <a:latin typeface="Arial Black" panose="020B0A04020102020204" pitchFamily="34" charset="0"/>
              </a:rPr>
              <a:t> Faciliter la découverte de talents par les entreprises.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FEDC19BC-E230-3235-6C0A-C9FEBD7A82F3}"/>
              </a:ext>
            </a:extLst>
          </p:cNvPr>
          <p:cNvSpPr/>
          <p:nvPr/>
        </p:nvSpPr>
        <p:spPr>
          <a:xfrm>
            <a:off x="3943271" y="3005487"/>
            <a:ext cx="449179" cy="2366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1617AEDA-E321-4742-C6DA-E4C69C152191}"/>
              </a:ext>
            </a:extLst>
          </p:cNvPr>
          <p:cNvSpPr/>
          <p:nvPr/>
        </p:nvSpPr>
        <p:spPr>
          <a:xfrm>
            <a:off x="4019403" y="4119269"/>
            <a:ext cx="449179" cy="2366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3400359-62DA-3718-0078-2B1B28A80C91}"/>
              </a:ext>
            </a:extLst>
          </p:cNvPr>
          <p:cNvGrpSpPr/>
          <p:nvPr/>
        </p:nvGrpSpPr>
        <p:grpSpPr>
          <a:xfrm>
            <a:off x="2618866" y="188877"/>
            <a:ext cx="8081719" cy="564830"/>
            <a:chOff x="5047973" y="117312"/>
            <a:chExt cx="8081719" cy="5648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BE8877-67FB-971F-790F-403A1EEED2C0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639E0915-14BE-B0BE-A142-970936B21966}"/>
                </a:ext>
              </a:extLst>
            </p:cNvPr>
            <p:cNvSpPr txBox="1"/>
            <p:nvPr/>
          </p:nvSpPr>
          <p:spPr>
            <a:xfrm>
              <a:off x="7033692" y="23045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Présentation du projet</a:t>
              </a:r>
              <a:r>
                <a:rPr lang="fr-SN" dirty="0"/>
                <a:t> 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C605B5F5-4141-A1F0-5234-7F5EFA84B7E1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EA836376-7F5E-CEFD-C828-5B5C0C030A1A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01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476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0B01-7684-0DC7-8BF2-D99FF029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332FD832-B612-04D4-DDC0-2012851CB860}"/>
              </a:ext>
            </a:extLst>
          </p:cNvPr>
          <p:cNvGrpSpPr/>
          <p:nvPr/>
        </p:nvGrpSpPr>
        <p:grpSpPr>
          <a:xfrm>
            <a:off x="2987835" y="359689"/>
            <a:ext cx="8931449" cy="564830"/>
            <a:chOff x="5047973" y="117312"/>
            <a:chExt cx="8081719" cy="5648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D206107-0A49-1FA4-9C0D-7C05EA620783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6678F3A4-50EA-C8AE-E069-9197808CCB4C}"/>
                </a:ext>
              </a:extLst>
            </p:cNvPr>
            <p:cNvSpPr txBox="1"/>
            <p:nvPr/>
          </p:nvSpPr>
          <p:spPr>
            <a:xfrm>
              <a:off x="7033692" y="23045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Présentation du projet</a:t>
              </a:r>
              <a:r>
                <a:rPr lang="fr-SN" dirty="0"/>
                <a:t> 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5C0E92EE-B46B-8C6F-B1F1-F7DA680C0BE9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0EC69DB-7231-6AF4-4238-A0A2A4C2D2AD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01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3FD05F-4F3E-85B6-DB32-D60F2EE6ED8C}"/>
              </a:ext>
            </a:extLst>
          </p:cNvPr>
          <p:cNvSpPr/>
          <p:nvPr/>
        </p:nvSpPr>
        <p:spPr>
          <a:xfrm rot="2738765">
            <a:off x="489347" y="2644554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8E24FDD-B5FA-BDE6-9462-93E70A50FE84}"/>
              </a:ext>
            </a:extLst>
          </p:cNvPr>
          <p:cNvSpPr/>
          <p:nvPr/>
        </p:nvSpPr>
        <p:spPr>
          <a:xfrm rot="2788261">
            <a:off x="607214" y="2847328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4B1191E8-736C-B611-7B4F-709DBFFD5E6F}"/>
              </a:ext>
            </a:extLst>
          </p:cNvPr>
          <p:cNvSpPr/>
          <p:nvPr/>
        </p:nvSpPr>
        <p:spPr>
          <a:xfrm rot="2738765">
            <a:off x="4874130" y="2648565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0F46D9DE-F5F3-30E8-C005-E83B96FBA739}"/>
              </a:ext>
            </a:extLst>
          </p:cNvPr>
          <p:cNvSpPr/>
          <p:nvPr/>
        </p:nvSpPr>
        <p:spPr>
          <a:xfrm rot="2788261">
            <a:off x="5008300" y="2826149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D5536A3-F812-7313-753B-0904792A3A05}"/>
              </a:ext>
            </a:extLst>
          </p:cNvPr>
          <p:cNvSpPr/>
          <p:nvPr/>
        </p:nvSpPr>
        <p:spPr>
          <a:xfrm rot="2738765">
            <a:off x="8876994" y="2415067"/>
            <a:ext cx="2491743" cy="2417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CB79A41-CD8B-95AD-26A2-5111E6130025}"/>
              </a:ext>
            </a:extLst>
          </p:cNvPr>
          <p:cNvSpPr/>
          <p:nvPr/>
        </p:nvSpPr>
        <p:spPr>
          <a:xfrm rot="2788261">
            <a:off x="9035165" y="2617842"/>
            <a:ext cx="2175398" cy="201179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00EC13CE-8BBD-0128-B9AC-47A4C452D697}"/>
              </a:ext>
            </a:extLst>
          </p:cNvPr>
          <p:cNvSpPr/>
          <p:nvPr/>
        </p:nvSpPr>
        <p:spPr>
          <a:xfrm>
            <a:off x="3572039" y="3623738"/>
            <a:ext cx="711142" cy="385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2B0CE92A-7E6C-6663-4898-D7EBACF24AD2}"/>
              </a:ext>
            </a:extLst>
          </p:cNvPr>
          <p:cNvSpPr/>
          <p:nvPr/>
        </p:nvSpPr>
        <p:spPr>
          <a:xfrm>
            <a:off x="7804903" y="3577389"/>
            <a:ext cx="711142" cy="385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32B703E-5362-22F5-0371-1D9901F1D65D}"/>
              </a:ext>
            </a:extLst>
          </p:cNvPr>
          <p:cNvSpPr txBox="1"/>
          <p:nvPr/>
        </p:nvSpPr>
        <p:spPr>
          <a:xfrm>
            <a:off x="1010328" y="3577389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CONTEXTE</a:t>
            </a:r>
            <a:endParaRPr lang="fr-SN" sz="2000" b="1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08B249E-7FC7-AFBA-3A87-A0A627878314}"/>
              </a:ext>
            </a:extLst>
          </p:cNvPr>
          <p:cNvSpPr txBox="1"/>
          <p:nvPr/>
        </p:nvSpPr>
        <p:spPr>
          <a:xfrm>
            <a:off x="5462697" y="3631990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OBJECTIFS</a:t>
            </a:r>
            <a:endParaRPr lang="fr-SN" sz="2000" b="1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07321B3-4274-AA44-3A39-F7FD90C4B0B1}"/>
              </a:ext>
            </a:extLst>
          </p:cNvPr>
          <p:cNvSpPr txBox="1"/>
          <p:nvPr/>
        </p:nvSpPr>
        <p:spPr>
          <a:xfrm>
            <a:off x="9572249" y="3431935"/>
            <a:ext cx="147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CIBLES</a:t>
            </a:r>
            <a:endParaRPr lang="fr-SN" sz="2000" b="1" dirty="0"/>
          </a:p>
        </p:txBody>
      </p:sp>
    </p:spTree>
    <p:extLst>
      <p:ext uri="{BB962C8B-B14F-4D97-AF65-F5344CB8AC3E}">
        <p14:creationId xmlns:p14="http://schemas.microsoft.com/office/powerpoint/2010/main" val="296666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9" grpId="0" animBg="1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A3396-65E6-2601-7FD4-60EF20C8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D16EA59-C074-F6B8-9CA0-0AE311936319}"/>
              </a:ext>
            </a:extLst>
          </p:cNvPr>
          <p:cNvGrpSpPr/>
          <p:nvPr/>
        </p:nvGrpSpPr>
        <p:grpSpPr>
          <a:xfrm>
            <a:off x="2987835" y="359689"/>
            <a:ext cx="8081719" cy="564830"/>
            <a:chOff x="5047973" y="117312"/>
            <a:chExt cx="8081719" cy="5648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1CAEE92-4DB7-BAE6-2340-3C1870819304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21697997-4E44-79E7-5B87-111AF6CCC53D}"/>
                </a:ext>
              </a:extLst>
            </p:cNvPr>
            <p:cNvSpPr txBox="1"/>
            <p:nvPr/>
          </p:nvSpPr>
          <p:spPr>
            <a:xfrm>
              <a:off x="7033692" y="23045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Présentation du projet</a:t>
              </a:r>
              <a:r>
                <a:rPr lang="fr-SN" dirty="0"/>
                <a:t> 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9E475FE9-D943-31A6-ED9F-9E7CE10190F1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4B88806-BD8A-9AA0-E89F-F5617E7BBBD2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01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C7151CD-0702-8B86-0DBC-96F077BAFAD3}"/>
              </a:ext>
            </a:extLst>
          </p:cNvPr>
          <p:cNvSpPr/>
          <p:nvPr/>
        </p:nvSpPr>
        <p:spPr>
          <a:xfrm rot="2738765">
            <a:off x="3650540" y="1809937"/>
            <a:ext cx="4215870" cy="4124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32A01CF-F491-9518-FDD3-494A3A2F717B}"/>
              </a:ext>
            </a:extLst>
          </p:cNvPr>
          <p:cNvSpPr/>
          <p:nvPr/>
        </p:nvSpPr>
        <p:spPr>
          <a:xfrm rot="2788261">
            <a:off x="3910778" y="2152776"/>
            <a:ext cx="3680634" cy="3432322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dirty="0"/>
              <a:t>• Développeurs</a:t>
            </a:r>
            <a:br>
              <a:rPr lang="fr-SN" dirty="0"/>
            </a:br>
            <a:r>
              <a:rPr lang="fr-SN" dirty="0"/>
              <a:t>• Designers UI/UX</a:t>
            </a:r>
            <a:br>
              <a:rPr lang="fr-SN" dirty="0"/>
            </a:br>
            <a:r>
              <a:rPr lang="fr-SN" dirty="0"/>
              <a:t>• Data </a:t>
            </a:r>
            <a:r>
              <a:rPr lang="fr-SN" dirty="0" err="1"/>
              <a:t>Analysts</a:t>
            </a:r>
            <a:br>
              <a:rPr lang="fr-SN" dirty="0"/>
            </a:br>
            <a:r>
              <a:rPr lang="fr-SN" dirty="0"/>
              <a:t>• Startups et entreprises</a:t>
            </a:r>
            <a:endParaRPr lang="fr-SN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B78E87-0B70-0BB7-F213-BC07893E9B56}"/>
              </a:ext>
            </a:extLst>
          </p:cNvPr>
          <p:cNvSpPr txBox="1"/>
          <p:nvPr/>
        </p:nvSpPr>
        <p:spPr>
          <a:xfrm>
            <a:off x="4755383" y="2593635"/>
            <a:ext cx="26812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000" b="1" dirty="0">
                <a:latin typeface="Arial Black" panose="020B0A04020102020204" pitchFamily="34" charset="0"/>
              </a:rPr>
              <a:t> Développeurs</a:t>
            </a:r>
          </a:p>
          <a:p>
            <a:br>
              <a:rPr lang="fr-SN" sz="2000" b="1" dirty="0">
                <a:latin typeface="Arial Black" panose="020B0A04020102020204" pitchFamily="34" charset="0"/>
              </a:rPr>
            </a:br>
            <a:r>
              <a:rPr lang="fr-SN" sz="2000" b="1" dirty="0">
                <a:latin typeface="Arial Black" panose="020B0A04020102020204" pitchFamily="34" charset="0"/>
              </a:rPr>
              <a:t> Designers UI/UX</a:t>
            </a:r>
          </a:p>
          <a:p>
            <a:br>
              <a:rPr lang="fr-SN" sz="2000" b="1" dirty="0">
                <a:latin typeface="Arial Black" panose="020B0A04020102020204" pitchFamily="34" charset="0"/>
              </a:rPr>
            </a:br>
            <a:r>
              <a:rPr lang="fr-SN" sz="2000" b="1" dirty="0">
                <a:latin typeface="Arial Black" panose="020B0A04020102020204" pitchFamily="34" charset="0"/>
              </a:rPr>
              <a:t> Data </a:t>
            </a:r>
            <a:r>
              <a:rPr lang="fr-SN" sz="2000" b="1" dirty="0" err="1">
                <a:latin typeface="Arial Black" panose="020B0A04020102020204" pitchFamily="34" charset="0"/>
              </a:rPr>
              <a:t>Analysts</a:t>
            </a:r>
            <a:endParaRPr lang="fr-SN" sz="2000" b="1" dirty="0">
              <a:latin typeface="Arial Black" panose="020B0A04020102020204" pitchFamily="34" charset="0"/>
            </a:endParaRPr>
          </a:p>
          <a:p>
            <a:br>
              <a:rPr lang="fr-SN" sz="2000" b="1" dirty="0">
                <a:latin typeface="Arial Black" panose="020B0A04020102020204" pitchFamily="34" charset="0"/>
              </a:rPr>
            </a:br>
            <a:r>
              <a:rPr lang="fr-SN" sz="2000" b="1" dirty="0">
                <a:latin typeface="Arial Black" panose="020B0A04020102020204" pitchFamily="34" charset="0"/>
              </a:rPr>
              <a:t> Startups et entreprises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E559543C-2E17-61E0-8A72-ACE46763F587}"/>
              </a:ext>
            </a:extLst>
          </p:cNvPr>
          <p:cNvSpPr/>
          <p:nvPr/>
        </p:nvSpPr>
        <p:spPr>
          <a:xfrm flipV="1">
            <a:off x="4368131" y="2693100"/>
            <a:ext cx="449179" cy="2205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5A4D07D3-5ED0-C979-E3D1-442D795F9EAC}"/>
              </a:ext>
            </a:extLst>
          </p:cNvPr>
          <p:cNvSpPr/>
          <p:nvPr/>
        </p:nvSpPr>
        <p:spPr>
          <a:xfrm>
            <a:off x="4337168" y="3856980"/>
            <a:ext cx="449179" cy="1875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2A9D4F89-B550-5A3D-575C-D93B00306828}"/>
              </a:ext>
            </a:extLst>
          </p:cNvPr>
          <p:cNvSpPr/>
          <p:nvPr/>
        </p:nvSpPr>
        <p:spPr>
          <a:xfrm flipV="1">
            <a:off x="4368132" y="4480235"/>
            <a:ext cx="449179" cy="2675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C8442A4F-6996-4EBF-4BC5-D6445804A869}"/>
              </a:ext>
            </a:extLst>
          </p:cNvPr>
          <p:cNvSpPr/>
          <p:nvPr/>
        </p:nvSpPr>
        <p:spPr>
          <a:xfrm flipV="1">
            <a:off x="4368130" y="3244785"/>
            <a:ext cx="449179" cy="2205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195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F3E5E-B34E-67CF-1FA6-C6922C6C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5E4A34F1-E068-C104-9503-78991F0D32B5}"/>
              </a:ext>
            </a:extLst>
          </p:cNvPr>
          <p:cNvSpPr/>
          <p:nvPr/>
        </p:nvSpPr>
        <p:spPr>
          <a:xfrm>
            <a:off x="6700345" y="5952260"/>
            <a:ext cx="5203173" cy="351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829BC63-3DAD-9664-C545-6BF77FE3BE12}"/>
              </a:ext>
            </a:extLst>
          </p:cNvPr>
          <p:cNvGrpSpPr/>
          <p:nvPr/>
        </p:nvGrpSpPr>
        <p:grpSpPr>
          <a:xfrm>
            <a:off x="2987835" y="359689"/>
            <a:ext cx="8022621" cy="564830"/>
            <a:chOff x="5047973" y="117312"/>
            <a:chExt cx="7259356" cy="5648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E8C4C5-BE93-D439-F104-47088CE0C5D9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738ECF6B-44AE-3E28-5A6B-76ABD4303BE9}"/>
                </a:ext>
              </a:extLst>
            </p:cNvPr>
            <p:cNvSpPr txBox="1"/>
            <p:nvPr/>
          </p:nvSpPr>
          <p:spPr>
            <a:xfrm>
              <a:off x="6211329" y="22945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Architecture et fonctionnement du site</a:t>
              </a:r>
              <a:r>
                <a:rPr lang="fr-SN" dirty="0"/>
                <a:t> 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16713995-A1C0-FCE1-6257-39ECBD8455FF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44D3D5AE-F665-051B-71A2-8A92781C507F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02</a:t>
              </a:r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39832170-E2B9-E815-5206-0C95E9E01746}"/>
              </a:ext>
            </a:extLst>
          </p:cNvPr>
          <p:cNvSpPr txBox="1"/>
          <p:nvPr/>
        </p:nvSpPr>
        <p:spPr>
          <a:xfrm>
            <a:off x="6700344" y="5952260"/>
            <a:ext cx="6558455" cy="383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fr-SN" b="1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ttdiane1703</a:t>
            </a:r>
            <a:r>
              <a:rPr lang="fr-SN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.github.io/afritalent/</a:t>
            </a:r>
            <a:endParaRPr lang="fr-SN" b="1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F3CB1C4-979D-C37A-2F53-4BB638EAC657}"/>
              </a:ext>
            </a:extLst>
          </p:cNvPr>
          <p:cNvSpPr txBox="1"/>
          <p:nvPr/>
        </p:nvSpPr>
        <p:spPr>
          <a:xfrm>
            <a:off x="1087821" y="1299075"/>
            <a:ext cx="10326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dirty="0">
                <a:latin typeface="Arial Black" panose="020B0A04020102020204" pitchFamily="34" charset="0"/>
              </a:rPr>
              <a:t>Le site </a:t>
            </a:r>
            <a:r>
              <a:rPr lang="fr-SN" b="1" dirty="0" err="1">
                <a:latin typeface="Arial Black" panose="020B0A04020102020204" pitchFamily="34" charset="0"/>
              </a:rPr>
              <a:t>AfriTalent</a:t>
            </a:r>
            <a:r>
              <a:rPr lang="fr-SN" b="1" dirty="0">
                <a:latin typeface="Arial Black" panose="020B0A04020102020204" pitchFamily="34" charset="0"/>
              </a:rPr>
              <a:t> est organisé selon une architecture simple et modulaire afin de faciliter la maintenance et l'évolution du projet.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9BA3DEA-6C77-EDB6-D1F7-967C57C35F8A}"/>
              </a:ext>
            </a:extLst>
          </p:cNvPr>
          <p:cNvSpPr/>
          <p:nvPr/>
        </p:nvSpPr>
        <p:spPr>
          <a:xfrm rot="2738765">
            <a:off x="208086" y="2999686"/>
            <a:ext cx="1917519" cy="1778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DFD53BDD-29D3-FCC8-BF8B-A323445110E1}"/>
              </a:ext>
            </a:extLst>
          </p:cNvPr>
          <p:cNvSpPr/>
          <p:nvPr/>
        </p:nvSpPr>
        <p:spPr>
          <a:xfrm rot="2788261">
            <a:off x="124029" y="3215757"/>
            <a:ext cx="1444267" cy="1346146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C0FC3C9B-1483-23AC-EDB5-4A052DFD4ED5}"/>
              </a:ext>
            </a:extLst>
          </p:cNvPr>
          <p:cNvSpPr/>
          <p:nvPr/>
        </p:nvSpPr>
        <p:spPr>
          <a:xfrm rot="2738765">
            <a:off x="2097414" y="3063628"/>
            <a:ext cx="1917519" cy="1778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7575520C-E669-C50A-891F-F40D67C14835}"/>
              </a:ext>
            </a:extLst>
          </p:cNvPr>
          <p:cNvSpPr/>
          <p:nvPr/>
        </p:nvSpPr>
        <p:spPr>
          <a:xfrm rot="2788261">
            <a:off x="2109415" y="3279697"/>
            <a:ext cx="1444267" cy="1346146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448E54A6-ED18-0974-7F6F-8FEE74CAC612}"/>
              </a:ext>
            </a:extLst>
          </p:cNvPr>
          <p:cNvSpPr/>
          <p:nvPr/>
        </p:nvSpPr>
        <p:spPr>
          <a:xfrm rot="2738765">
            <a:off x="4052216" y="3192163"/>
            <a:ext cx="1917519" cy="1778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E6693D15-F7A5-8AF8-F95A-96ABA84D5C78}"/>
              </a:ext>
            </a:extLst>
          </p:cNvPr>
          <p:cNvSpPr/>
          <p:nvPr/>
        </p:nvSpPr>
        <p:spPr>
          <a:xfrm rot="2788261">
            <a:off x="3968159" y="3408234"/>
            <a:ext cx="1444267" cy="1346146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D5863921-CA8C-3380-17CF-3674BB17E643}"/>
              </a:ext>
            </a:extLst>
          </p:cNvPr>
          <p:cNvSpPr/>
          <p:nvPr/>
        </p:nvSpPr>
        <p:spPr>
          <a:xfrm rot="2738765">
            <a:off x="6062102" y="3192162"/>
            <a:ext cx="1917519" cy="1778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CE70CFA4-4C5D-8E31-9722-D9F905B7ACD6}"/>
              </a:ext>
            </a:extLst>
          </p:cNvPr>
          <p:cNvSpPr/>
          <p:nvPr/>
        </p:nvSpPr>
        <p:spPr>
          <a:xfrm rot="2788261">
            <a:off x="5978045" y="3408233"/>
            <a:ext cx="1444267" cy="1346146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E4E3880A-8E03-7954-1C0A-7F3873D409BA}"/>
              </a:ext>
            </a:extLst>
          </p:cNvPr>
          <p:cNvSpPr/>
          <p:nvPr/>
        </p:nvSpPr>
        <p:spPr>
          <a:xfrm rot="2738765">
            <a:off x="8081008" y="3192164"/>
            <a:ext cx="1917519" cy="1778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11BCBCB0-DF37-F906-7D38-0816116CCF6F}"/>
              </a:ext>
            </a:extLst>
          </p:cNvPr>
          <p:cNvSpPr/>
          <p:nvPr/>
        </p:nvSpPr>
        <p:spPr>
          <a:xfrm rot="2788261">
            <a:off x="7972044" y="3408233"/>
            <a:ext cx="1444267" cy="1346146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ED41D93D-AF36-64E1-B53D-1381903C253B}"/>
              </a:ext>
            </a:extLst>
          </p:cNvPr>
          <p:cNvSpPr/>
          <p:nvPr/>
        </p:nvSpPr>
        <p:spPr>
          <a:xfrm rot="2738765">
            <a:off x="10051697" y="3192163"/>
            <a:ext cx="1917519" cy="1778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3A10C6BE-D73D-0548-C922-9FB0EBC63145}"/>
              </a:ext>
            </a:extLst>
          </p:cNvPr>
          <p:cNvSpPr/>
          <p:nvPr/>
        </p:nvSpPr>
        <p:spPr>
          <a:xfrm rot="2788261">
            <a:off x="9967640" y="3408234"/>
            <a:ext cx="1444267" cy="1346146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b="1" dirty="0"/>
              <a:t>Sommaire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E467FA9-05C7-B3D2-72AA-7C467D3F9940}"/>
              </a:ext>
            </a:extLst>
          </p:cNvPr>
          <p:cNvSpPr txBox="1"/>
          <p:nvPr/>
        </p:nvSpPr>
        <p:spPr>
          <a:xfrm>
            <a:off x="254856" y="3583440"/>
            <a:ext cx="110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400" b="1"/>
              <a:t>Accueil</a:t>
            </a:r>
            <a:endParaRPr lang="fr-SN" sz="2400" b="1" dirty="0"/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E6AF5B92-7250-CB39-ABD9-FF0814E22BD4}"/>
              </a:ext>
            </a:extLst>
          </p:cNvPr>
          <p:cNvSpPr txBox="1"/>
          <p:nvPr/>
        </p:nvSpPr>
        <p:spPr>
          <a:xfrm>
            <a:off x="2158115" y="3602892"/>
            <a:ext cx="154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</a:t>
            </a:r>
            <a:r>
              <a:rPr lang="fr-SN" sz="2400" b="1" dirty="0" err="1"/>
              <a:t>reelance</a:t>
            </a:r>
            <a:endParaRPr lang="fr-SN" sz="2400" b="1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BB83B974-3F3A-F55D-9DC5-A3C78CCEF73C}"/>
              </a:ext>
            </a:extLst>
          </p:cNvPr>
          <p:cNvSpPr txBox="1"/>
          <p:nvPr/>
        </p:nvSpPr>
        <p:spPr>
          <a:xfrm>
            <a:off x="4227203" y="3646581"/>
            <a:ext cx="1433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</a:t>
            </a:r>
            <a:r>
              <a:rPr lang="fr-SN" sz="2400" b="1" dirty="0" err="1"/>
              <a:t>arif</a:t>
            </a:r>
            <a:endParaRPr lang="fr-SN" sz="2400" b="1" dirty="0"/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CE0DCD89-A2FE-5723-F87B-006D9211B551}"/>
              </a:ext>
            </a:extLst>
          </p:cNvPr>
          <p:cNvSpPr txBox="1"/>
          <p:nvPr/>
        </p:nvSpPr>
        <p:spPr>
          <a:xfrm>
            <a:off x="6031581" y="3657997"/>
            <a:ext cx="1433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r>
              <a:rPr lang="fr-SN" sz="2400" b="1" dirty="0"/>
              <a:t> propos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48BA23A1-FA12-4F42-8252-4BB54F0AD85A}"/>
              </a:ext>
            </a:extLst>
          </p:cNvPr>
          <p:cNvSpPr txBox="1"/>
          <p:nvPr/>
        </p:nvSpPr>
        <p:spPr>
          <a:xfrm>
            <a:off x="8350199" y="3721937"/>
            <a:ext cx="1433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  <a:r>
              <a:rPr lang="fr-SN" sz="2400" b="1" dirty="0"/>
              <a:t>log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D5B0097A-6E33-11D8-AAA1-5DDAC202B35F}"/>
              </a:ext>
            </a:extLst>
          </p:cNvPr>
          <p:cNvSpPr txBox="1"/>
          <p:nvPr/>
        </p:nvSpPr>
        <p:spPr>
          <a:xfrm>
            <a:off x="10062590" y="3690803"/>
            <a:ext cx="1433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Contact</a:t>
            </a:r>
            <a:endParaRPr lang="fr-SN" sz="2400" b="1" dirty="0"/>
          </a:p>
        </p:txBody>
      </p:sp>
      <p:sp>
        <p:nvSpPr>
          <p:cNvPr id="75" name="Flèche : droite 74">
            <a:extLst>
              <a:ext uri="{FF2B5EF4-FFF2-40B4-BE49-F238E27FC236}">
                <a16:creationId xmlns:a16="http://schemas.microsoft.com/office/drawing/2014/main" id="{78F5B87E-3AE6-C49D-1942-64F1786DFCFB}"/>
              </a:ext>
            </a:extLst>
          </p:cNvPr>
          <p:cNvSpPr/>
          <p:nvPr/>
        </p:nvSpPr>
        <p:spPr>
          <a:xfrm>
            <a:off x="602726" y="5704679"/>
            <a:ext cx="5264469" cy="7883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Vous </a:t>
            </a:r>
            <a:r>
              <a:rPr lang="en-US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etes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chaud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 de voir </a:t>
            </a:r>
            <a:r>
              <a:rPr lang="en-US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mon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 bel site?</a:t>
            </a:r>
            <a:endParaRPr lang="fr-SN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40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90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9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9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9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9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9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9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9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nimBg="1"/>
      <p:bldP spid="22" grpId="0" animBg="1"/>
      <p:bldP spid="44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60" grpId="0" animBg="1"/>
      <p:bldP spid="62" grpId="0" animBg="1"/>
      <p:bldP spid="63" grpId="0"/>
      <p:bldP spid="65" grpId="0"/>
      <p:bldP spid="67" grpId="0"/>
      <p:bldP spid="69" grpId="0"/>
      <p:bldP spid="71" grpId="0"/>
      <p:bldP spid="73" grpId="0"/>
      <p:bldP spid="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3C708-42CB-F294-E55F-C3441F4C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38">
            <a:extLst>
              <a:ext uri="{FF2B5EF4-FFF2-40B4-BE49-F238E27FC236}">
                <a16:creationId xmlns:a16="http://schemas.microsoft.com/office/drawing/2014/main" id="{1D99BBBF-5489-DB6E-5D9F-919CA621D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29189" y="1942862"/>
            <a:ext cx="1460658" cy="1460658"/>
          </a:xfrm>
          <a:custGeom>
            <a:avLst/>
            <a:gdLst>
              <a:gd name="csX0" fmla="*/ 0 w 2247511"/>
              <a:gd name="csY0" fmla="*/ 0 h 2247511"/>
              <a:gd name="csX1" fmla="*/ 2247511 w 2247511"/>
              <a:gd name="csY1" fmla="*/ 0 h 2247511"/>
              <a:gd name="csX2" fmla="*/ 2247511 w 2247511"/>
              <a:gd name="csY2" fmla="*/ 2247511 h 2247511"/>
              <a:gd name="csX3" fmla="*/ 0 w 2247511"/>
              <a:gd name="csY3" fmla="*/ 2247511 h 2247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47511" h="2247511">
                <a:moveTo>
                  <a:pt x="0" y="0"/>
                </a:moveTo>
                <a:lnTo>
                  <a:pt x="2247511" y="0"/>
                </a:lnTo>
                <a:lnTo>
                  <a:pt x="2247511" y="2247511"/>
                </a:lnTo>
                <a:lnTo>
                  <a:pt x="0" y="2247511"/>
                </a:lnTo>
                <a:close/>
              </a:path>
            </a:pathLst>
          </a:cu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7CEC2000-130E-4DEC-0B93-B83E3C075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87" r="-7833"/>
          <a:stretch>
            <a:fillRect/>
          </a:stretch>
        </p:blipFill>
        <p:spPr>
          <a:xfrm>
            <a:off x="3647463" y="2082363"/>
            <a:ext cx="1252091" cy="1232615"/>
          </a:xfrm>
          <a:custGeom>
            <a:avLst/>
            <a:gdLst>
              <a:gd name="csX0" fmla="*/ 106636 w 1935761"/>
              <a:gd name="csY0" fmla="*/ 0 h 2459562"/>
              <a:gd name="csX1" fmla="*/ 1802886 w 1935761"/>
              <a:gd name="csY1" fmla="*/ 0 h 2459562"/>
              <a:gd name="csX2" fmla="*/ 1802886 w 1935761"/>
              <a:gd name="csY2" fmla="*/ 477257 h 2459562"/>
              <a:gd name="csX3" fmla="*/ 1867081 w 1935761"/>
              <a:gd name="csY3" fmla="*/ 521896 h 2459562"/>
              <a:gd name="csX4" fmla="*/ 1935736 w 1935761"/>
              <a:gd name="csY4" fmla="*/ 694637 h 2459562"/>
              <a:gd name="csX5" fmla="*/ 1921750 w 1935761"/>
              <a:gd name="csY5" fmla="*/ 1665985 h 2459562"/>
              <a:gd name="csX6" fmla="*/ 1848149 w 1935761"/>
              <a:gd name="csY6" fmla="*/ 1836678 h 2459562"/>
              <a:gd name="csX7" fmla="*/ 1802886 w 1935761"/>
              <a:gd name="csY7" fmla="*/ 1866256 h 2459562"/>
              <a:gd name="csX8" fmla="*/ 1802886 w 1935761"/>
              <a:gd name="csY8" fmla="*/ 2459562 h 2459562"/>
              <a:gd name="csX9" fmla="*/ 106636 w 1935761"/>
              <a:gd name="csY9" fmla="*/ 2459562 h 2459562"/>
              <a:gd name="csX10" fmla="*/ 106636 w 1935761"/>
              <a:gd name="csY10" fmla="*/ 1837449 h 2459562"/>
              <a:gd name="csX11" fmla="*/ 68681 w 1935761"/>
              <a:gd name="csY11" fmla="*/ 1811056 h 2459562"/>
              <a:gd name="csX12" fmla="*/ 25 w 1935761"/>
              <a:gd name="csY12" fmla="*/ 1638315 h 2459562"/>
              <a:gd name="csX13" fmla="*/ 14011 w 1935761"/>
              <a:gd name="csY13" fmla="*/ 666966 h 2459562"/>
              <a:gd name="csX14" fmla="*/ 87612 w 1935761"/>
              <a:gd name="csY14" fmla="*/ 496273 h 2459562"/>
              <a:gd name="csX15" fmla="*/ 106636 w 1935761"/>
              <a:gd name="csY15" fmla="*/ 483842 h 2459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935761" h="2459562">
                <a:moveTo>
                  <a:pt x="106636" y="0"/>
                </a:moveTo>
                <a:lnTo>
                  <a:pt x="1802886" y="0"/>
                </a:lnTo>
                <a:lnTo>
                  <a:pt x="1802886" y="477257"/>
                </a:lnTo>
                <a:lnTo>
                  <a:pt x="1867081" y="521896"/>
                </a:lnTo>
                <a:cubicBezTo>
                  <a:pt x="1910394" y="566475"/>
                  <a:pt x="1936701" y="627577"/>
                  <a:pt x="1935736" y="694637"/>
                </a:cubicBezTo>
                <a:lnTo>
                  <a:pt x="1921750" y="1665985"/>
                </a:lnTo>
                <a:cubicBezTo>
                  <a:pt x="1920784" y="1733045"/>
                  <a:pt x="1892728" y="1793364"/>
                  <a:pt x="1848149" y="1836678"/>
                </a:cubicBezTo>
                <a:lnTo>
                  <a:pt x="1802886" y="1866256"/>
                </a:lnTo>
                <a:lnTo>
                  <a:pt x="1802886" y="2459562"/>
                </a:lnTo>
                <a:lnTo>
                  <a:pt x="106636" y="2459562"/>
                </a:lnTo>
                <a:lnTo>
                  <a:pt x="106636" y="1837449"/>
                </a:lnTo>
                <a:lnTo>
                  <a:pt x="68681" y="1811056"/>
                </a:lnTo>
                <a:cubicBezTo>
                  <a:pt x="25367" y="1766477"/>
                  <a:pt x="-940" y="1705374"/>
                  <a:pt x="25" y="1638315"/>
                </a:cubicBezTo>
                <a:lnTo>
                  <a:pt x="14011" y="666966"/>
                </a:lnTo>
                <a:cubicBezTo>
                  <a:pt x="14977" y="599907"/>
                  <a:pt x="43033" y="539587"/>
                  <a:pt x="87612" y="496273"/>
                </a:cubicBezTo>
                <a:lnTo>
                  <a:pt x="106636" y="483842"/>
                </a:lnTo>
                <a:close/>
              </a:path>
            </a:pathLst>
          </a:cu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578C9343-7B5A-01EB-995B-548CB0914F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070" b="-5558"/>
          <a:stretch>
            <a:fillRect/>
          </a:stretch>
        </p:blipFill>
        <p:spPr>
          <a:xfrm>
            <a:off x="774105" y="2082363"/>
            <a:ext cx="1252092" cy="1086205"/>
          </a:xfrm>
          <a:custGeom>
            <a:avLst/>
            <a:gdLst>
              <a:gd name="csX0" fmla="*/ 572039 w 2234345"/>
              <a:gd name="csY0" fmla="*/ 25 h 1453240"/>
              <a:gd name="csX1" fmla="*/ 1995557 w 2234345"/>
              <a:gd name="csY1" fmla="*/ 20522 h 1453240"/>
              <a:gd name="csX2" fmla="*/ 2163398 w 2234345"/>
              <a:gd name="csY2" fmla="*/ 92892 h 1453240"/>
              <a:gd name="csX3" fmla="*/ 2185403 w 2234345"/>
              <a:gd name="csY3" fmla="*/ 126566 h 1453240"/>
              <a:gd name="csX4" fmla="*/ 2234345 w 2234345"/>
              <a:gd name="csY4" fmla="*/ 126566 h 1453240"/>
              <a:gd name="csX5" fmla="*/ 2234345 w 2234345"/>
              <a:gd name="csY5" fmla="*/ 1383385 h 1453240"/>
              <a:gd name="csX6" fmla="*/ 2146398 w 2234345"/>
              <a:gd name="csY6" fmla="*/ 1383385 h 1453240"/>
              <a:gd name="csX7" fmla="*/ 2144783 w 2234345"/>
              <a:gd name="csY7" fmla="*/ 1385707 h 1453240"/>
              <a:gd name="csX8" fmla="*/ 1974928 w 2234345"/>
              <a:gd name="csY8" fmla="*/ 1453215 h 1453240"/>
              <a:gd name="csX9" fmla="*/ 551410 w 2234345"/>
              <a:gd name="csY9" fmla="*/ 1432718 h 1453240"/>
              <a:gd name="csX10" fmla="*/ 418489 w 2234345"/>
              <a:gd name="csY10" fmla="*/ 1390015 h 1453240"/>
              <a:gd name="csX11" fmla="*/ 410686 w 2234345"/>
              <a:gd name="csY11" fmla="*/ 1383385 h 1453240"/>
              <a:gd name="csX12" fmla="*/ 0 w 2234345"/>
              <a:gd name="csY12" fmla="*/ 1383385 h 1453240"/>
              <a:gd name="csX13" fmla="*/ 0 w 2234345"/>
              <a:gd name="csY13" fmla="*/ 126566 h 1453240"/>
              <a:gd name="csX14" fmla="*/ 361135 w 2234345"/>
              <a:gd name="csY14" fmla="*/ 126566 h 1453240"/>
              <a:gd name="csX15" fmla="*/ 402184 w 2234345"/>
              <a:gd name="csY15" fmla="*/ 67533 h 1453240"/>
              <a:gd name="csX16" fmla="*/ 572039 w 2234345"/>
              <a:gd name="csY16" fmla="*/ 25 h 1453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34345" h="1453240">
                <a:moveTo>
                  <a:pt x="572039" y="25"/>
                </a:moveTo>
                <a:lnTo>
                  <a:pt x="1995557" y="20522"/>
                </a:lnTo>
                <a:cubicBezTo>
                  <a:pt x="2061496" y="21471"/>
                  <a:pt x="2120808" y="49058"/>
                  <a:pt x="2163398" y="92892"/>
                </a:cubicBezTo>
                <a:lnTo>
                  <a:pt x="2185403" y="126566"/>
                </a:lnTo>
                <a:lnTo>
                  <a:pt x="2234345" y="126566"/>
                </a:lnTo>
                <a:lnTo>
                  <a:pt x="2234345" y="1383385"/>
                </a:lnTo>
                <a:lnTo>
                  <a:pt x="2146398" y="1383385"/>
                </a:lnTo>
                <a:lnTo>
                  <a:pt x="2144783" y="1385707"/>
                </a:lnTo>
                <a:cubicBezTo>
                  <a:pt x="2100949" y="1428297"/>
                  <a:pt x="2040867" y="1454165"/>
                  <a:pt x="1974928" y="1453215"/>
                </a:cubicBezTo>
                <a:lnTo>
                  <a:pt x="551410" y="1432718"/>
                </a:lnTo>
                <a:cubicBezTo>
                  <a:pt x="501956" y="1432006"/>
                  <a:pt x="456229" y="1416311"/>
                  <a:pt x="418489" y="1390015"/>
                </a:cubicBezTo>
                <a:lnTo>
                  <a:pt x="410686" y="1383385"/>
                </a:lnTo>
                <a:lnTo>
                  <a:pt x="0" y="1383385"/>
                </a:lnTo>
                <a:lnTo>
                  <a:pt x="0" y="126566"/>
                </a:lnTo>
                <a:lnTo>
                  <a:pt x="361135" y="126566"/>
                </a:lnTo>
                <a:lnTo>
                  <a:pt x="402184" y="67533"/>
                </a:lnTo>
                <a:cubicBezTo>
                  <a:pt x="446019" y="24943"/>
                  <a:pt x="506100" y="-925"/>
                  <a:pt x="572039" y="25"/>
                </a:cubicBezTo>
                <a:close/>
              </a:path>
            </a:pathLst>
          </a:cu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376C2490-9925-4DD1-A5A1-76F4637CE29F}"/>
              </a:ext>
            </a:extLst>
          </p:cNvPr>
          <p:cNvGrpSpPr/>
          <p:nvPr/>
        </p:nvGrpSpPr>
        <p:grpSpPr>
          <a:xfrm>
            <a:off x="2987835" y="359689"/>
            <a:ext cx="8022621" cy="833700"/>
            <a:chOff x="5047973" y="117312"/>
            <a:chExt cx="7259356" cy="8337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90D8B44-E372-C498-A740-132A9AF80835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3AA65549-BBA2-0F01-886A-7EBA25850217}"/>
                </a:ext>
              </a:extLst>
            </p:cNvPr>
            <p:cNvSpPr txBox="1"/>
            <p:nvPr/>
          </p:nvSpPr>
          <p:spPr>
            <a:xfrm>
              <a:off x="6211329" y="22945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Développement et aspects techniques</a:t>
              </a:r>
              <a:r>
                <a:rPr lang="fr-SN" dirty="0"/>
                <a:t> 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EEC2B092-DD92-E264-323E-6EABAE215119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7E0C419-3166-AAE7-3F27-CC51423ABB6A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03</a:t>
              </a:r>
            </a:p>
            <a:p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D0612B1C-B61D-7BD9-30D4-1B21461A83B5}"/>
              </a:ext>
            </a:extLst>
          </p:cNvPr>
          <p:cNvSpPr txBox="1"/>
          <p:nvPr/>
        </p:nvSpPr>
        <p:spPr>
          <a:xfrm>
            <a:off x="587443" y="1218031"/>
            <a:ext cx="10685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dirty="0">
                <a:latin typeface="Arial Black" panose="020B0A04020102020204" pitchFamily="34" charset="0"/>
              </a:rPr>
              <a:t>Cette partie présente les technologies et les solutions techniques utilisées pour concevoir </a:t>
            </a:r>
            <a:r>
              <a:rPr lang="fr-SN" b="1" dirty="0" err="1">
                <a:latin typeface="Arial Black" panose="020B0A04020102020204" pitchFamily="34" charset="0"/>
              </a:rPr>
              <a:t>AfriTalent</a:t>
            </a:r>
            <a:r>
              <a:rPr lang="fr-SN" b="1" dirty="0">
                <a:latin typeface="Arial Black" panose="020B0A04020102020204" pitchFamily="34" charset="0"/>
              </a:rPr>
              <a:t>, ainsi que les principales fonctionnalités mises en œuvre afin d'offrir une expérience utilisateur moderne et performante.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DD999E9-1001-6F5F-AD32-391955A1B0B7}"/>
              </a:ext>
            </a:extLst>
          </p:cNvPr>
          <p:cNvSpPr/>
          <p:nvPr/>
        </p:nvSpPr>
        <p:spPr>
          <a:xfrm>
            <a:off x="2663924" y="3543023"/>
            <a:ext cx="2586422" cy="2843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1E08C1D-B041-6F0E-95B2-D032D311F554}"/>
              </a:ext>
            </a:extLst>
          </p:cNvPr>
          <p:cNvSpPr/>
          <p:nvPr/>
        </p:nvSpPr>
        <p:spPr>
          <a:xfrm rot="49496">
            <a:off x="2854644" y="3806182"/>
            <a:ext cx="2258057" cy="2366157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dirty="0"/>
              <a:t>• Développeurs</a:t>
            </a:r>
            <a:br>
              <a:rPr lang="fr-SN" dirty="0"/>
            </a:br>
            <a:r>
              <a:rPr lang="fr-SN" dirty="0"/>
              <a:t>• Designers UI/UX</a:t>
            </a:r>
            <a:br>
              <a:rPr lang="fr-SN" dirty="0"/>
            </a:br>
            <a:r>
              <a:rPr lang="fr-SN" dirty="0"/>
              <a:t>• Data </a:t>
            </a:r>
            <a:r>
              <a:rPr lang="fr-SN" dirty="0" err="1"/>
              <a:t>Analysts</a:t>
            </a:r>
            <a:br>
              <a:rPr lang="fr-SN" dirty="0"/>
            </a:br>
            <a:r>
              <a:rPr lang="fr-SN" dirty="0"/>
              <a:t>• Startups et entreprises</a:t>
            </a:r>
            <a:endParaRPr lang="fr-SN" b="1" dirty="0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7F275DEE-E003-B8B8-B3CC-42FF4BD65AA5}"/>
              </a:ext>
            </a:extLst>
          </p:cNvPr>
          <p:cNvSpPr/>
          <p:nvPr/>
        </p:nvSpPr>
        <p:spPr>
          <a:xfrm>
            <a:off x="36746" y="3543024"/>
            <a:ext cx="2424934" cy="28684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A9ABD65-A1B5-43C9-DF85-E66D880E7E51}"/>
              </a:ext>
            </a:extLst>
          </p:cNvPr>
          <p:cNvSpPr/>
          <p:nvPr/>
        </p:nvSpPr>
        <p:spPr>
          <a:xfrm rot="49496">
            <a:off x="197822" y="3745400"/>
            <a:ext cx="2117071" cy="2387213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dirty="0"/>
              <a:t>• Développeurs</a:t>
            </a:r>
            <a:br>
              <a:rPr lang="fr-SN" dirty="0"/>
            </a:br>
            <a:r>
              <a:rPr lang="fr-SN" dirty="0"/>
              <a:t>• Designers UI/UX</a:t>
            </a:r>
            <a:br>
              <a:rPr lang="fr-SN" dirty="0"/>
            </a:br>
            <a:r>
              <a:rPr lang="fr-SN" dirty="0"/>
              <a:t>• Data </a:t>
            </a:r>
            <a:r>
              <a:rPr lang="fr-SN" dirty="0" err="1"/>
              <a:t>Analysts</a:t>
            </a:r>
            <a:br>
              <a:rPr lang="fr-SN" dirty="0"/>
            </a:br>
            <a:r>
              <a:rPr lang="fr-SN" dirty="0"/>
              <a:t>• Startups et entreprises</a:t>
            </a:r>
            <a:endParaRPr lang="fr-SN" b="1" dirty="0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80BB6534-F7D2-C83B-9179-CD1135021BA0}"/>
              </a:ext>
            </a:extLst>
          </p:cNvPr>
          <p:cNvSpPr/>
          <p:nvPr/>
        </p:nvSpPr>
        <p:spPr>
          <a:xfrm>
            <a:off x="5452590" y="3543023"/>
            <a:ext cx="2586422" cy="2789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C9B8259B-1997-F527-3F00-8ADFE05BD00A}"/>
              </a:ext>
            </a:extLst>
          </p:cNvPr>
          <p:cNvSpPr/>
          <p:nvPr/>
        </p:nvSpPr>
        <p:spPr>
          <a:xfrm rot="49496">
            <a:off x="5663472" y="3796850"/>
            <a:ext cx="2258057" cy="2321846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dirty="0"/>
              <a:t>• Développeurs</a:t>
            </a:r>
            <a:br>
              <a:rPr lang="fr-SN" dirty="0"/>
            </a:br>
            <a:r>
              <a:rPr lang="fr-SN" dirty="0"/>
              <a:t>• Designers UI/UX</a:t>
            </a:r>
            <a:br>
              <a:rPr lang="fr-SN" dirty="0"/>
            </a:br>
            <a:r>
              <a:rPr lang="fr-SN" dirty="0"/>
              <a:t>• Data </a:t>
            </a:r>
            <a:r>
              <a:rPr lang="fr-SN" dirty="0" err="1"/>
              <a:t>Analysts</a:t>
            </a:r>
            <a:br>
              <a:rPr lang="fr-SN" dirty="0"/>
            </a:br>
            <a:r>
              <a:rPr lang="fr-SN" dirty="0"/>
              <a:t>• Startups et entreprises</a:t>
            </a:r>
            <a:endParaRPr lang="fr-SN" b="1" dirty="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02247123-A312-87D3-729C-3919E0574986}"/>
              </a:ext>
            </a:extLst>
          </p:cNvPr>
          <p:cNvSpPr/>
          <p:nvPr/>
        </p:nvSpPr>
        <p:spPr>
          <a:xfrm>
            <a:off x="8425126" y="3562791"/>
            <a:ext cx="2585330" cy="27576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B0804FC2-48E6-FA6D-1049-243067561C34}"/>
              </a:ext>
            </a:extLst>
          </p:cNvPr>
          <p:cNvSpPr/>
          <p:nvPr/>
        </p:nvSpPr>
        <p:spPr>
          <a:xfrm rot="49496">
            <a:off x="8615196" y="3811607"/>
            <a:ext cx="2257103" cy="2294993"/>
          </a:xfrm>
          <a:prstGeom prst="roundRect">
            <a:avLst/>
          </a:prstGeom>
          <a:solidFill>
            <a:schemeClr val="bg1"/>
          </a:solidFill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SN" dirty="0"/>
              <a:t>• Développeurs</a:t>
            </a:r>
            <a:br>
              <a:rPr lang="fr-SN" dirty="0"/>
            </a:br>
            <a:r>
              <a:rPr lang="fr-SN" dirty="0"/>
              <a:t>• Designers UI/UX</a:t>
            </a:r>
            <a:br>
              <a:rPr lang="fr-SN" dirty="0"/>
            </a:br>
            <a:r>
              <a:rPr lang="fr-SN" dirty="0"/>
              <a:t>• Data </a:t>
            </a:r>
            <a:r>
              <a:rPr lang="fr-SN" dirty="0" err="1"/>
              <a:t>Analysts</a:t>
            </a:r>
            <a:br>
              <a:rPr lang="fr-SN" dirty="0"/>
            </a:br>
            <a:r>
              <a:rPr lang="fr-SN" dirty="0"/>
              <a:t>• Startups et entreprises</a:t>
            </a:r>
            <a:endParaRPr lang="fr-SN" b="1" dirty="0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029D5FBA-AEBA-216E-B932-8E52509E9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108" y="1934291"/>
            <a:ext cx="1441348" cy="1441348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0BA9FA64-B5BB-B9AE-0B8F-893ADB86F28E}"/>
              </a:ext>
            </a:extLst>
          </p:cNvPr>
          <p:cNvSpPr txBox="1"/>
          <p:nvPr/>
        </p:nvSpPr>
        <p:spPr>
          <a:xfrm>
            <a:off x="5902777" y="3978892"/>
            <a:ext cx="161984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1100" b="1" dirty="0"/>
              <a:t>Initialisation et gestion du dépôt Git. Réalisation de 10 </a:t>
            </a:r>
            <a:r>
              <a:rPr lang="fr-SN" sz="1100" b="1" dirty="0" err="1"/>
              <a:t>commits</a:t>
            </a:r>
            <a:r>
              <a:rPr lang="fr-SN" sz="1100" b="1" dirty="0"/>
              <a:t> pour suivre l'évolution du projet. Sauvegarde et synchronisation du code sur GitHub. Gestion des versions et corrections. Déploiement du site avec GitHub Pages.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B4AFFAC-3D46-8B44-2827-2A1FD8E57656}"/>
              </a:ext>
            </a:extLst>
          </p:cNvPr>
          <p:cNvSpPr txBox="1"/>
          <p:nvPr/>
        </p:nvSpPr>
        <p:spPr>
          <a:xfrm>
            <a:off x="2963900" y="4254974"/>
            <a:ext cx="20543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1200" b="1" dirty="0"/>
              <a:t>Implémentation du Dark Mode dynamique. Animation des compteurs statistiques. Filtrage dynamique des profils freelances. Validation du formulaire de contact. Manipulation du DOM.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DDEE01C1-D5E2-D9C1-3918-6958AAF84ADD}"/>
              </a:ext>
            </a:extLst>
          </p:cNvPr>
          <p:cNvSpPr txBox="1"/>
          <p:nvPr/>
        </p:nvSpPr>
        <p:spPr>
          <a:xfrm>
            <a:off x="418686" y="3733812"/>
            <a:ext cx="17278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1200" dirty="0"/>
              <a:t> </a:t>
            </a:r>
            <a:r>
              <a:rPr lang="fr-SN" sz="1200" b="1" dirty="0">
                <a:latin typeface="Arial Narrow" panose="020B0606020202030204" pitchFamily="34" charset="0"/>
              </a:rPr>
              <a:t>structure des 5 pages du site. l'interface utilisateur moderne et responsive. Mise en place du design Bento </a:t>
            </a:r>
            <a:r>
              <a:rPr lang="fr-SN" sz="1200" b="1" dirty="0" err="1">
                <a:latin typeface="Arial Narrow" panose="020B0606020202030204" pitchFamily="34" charset="0"/>
              </a:rPr>
              <a:t>Grid</a:t>
            </a:r>
            <a:r>
              <a:rPr lang="fr-SN" sz="1200" b="1" dirty="0">
                <a:latin typeface="Arial Narrow" panose="020B0606020202030204" pitchFamily="34" charset="0"/>
              </a:rPr>
              <a:t>. Création de la barre de navigation et des différentes section</a:t>
            </a:r>
          </a:p>
          <a:p>
            <a:r>
              <a:rPr lang="fr-FR" sz="1200" b="1" dirty="0">
                <a:latin typeface="Arial Narrow" panose="020B0606020202030204" pitchFamily="34" charset="0"/>
              </a:rPr>
              <a:t>Développement du Dark </a:t>
            </a:r>
            <a:r>
              <a:rPr lang="fr-FR" sz="1200" b="1" dirty="0" err="1">
                <a:latin typeface="Arial Narrow" panose="020B0606020202030204" pitchFamily="34" charset="0"/>
              </a:rPr>
              <a:t>Mode.Adaptation</a:t>
            </a:r>
            <a:r>
              <a:rPr lang="fr-FR" sz="1200" b="1" dirty="0">
                <a:latin typeface="Arial Narrow" panose="020B0606020202030204" pitchFamily="34" charset="0"/>
              </a:rPr>
              <a:t> du site aux mobiles, tablettes et </a:t>
            </a:r>
            <a:r>
              <a:rPr lang="fr-FR" sz="1200" b="1" dirty="0" err="1">
                <a:latin typeface="Arial Narrow" panose="020B0606020202030204" pitchFamily="34" charset="0"/>
              </a:rPr>
              <a:t>ordinateurs.d'animations</a:t>
            </a:r>
            <a:r>
              <a:rPr lang="fr-FR" sz="1200" b="1" dirty="0">
                <a:latin typeface="Arial Narrow" panose="020B0606020202030204" pitchFamily="34" charset="0"/>
              </a:rPr>
              <a:t> et d'effets visuels.</a:t>
            </a:r>
            <a:endParaRPr lang="fr-SN" sz="1200" b="1" dirty="0">
              <a:latin typeface="Arial Narrow" panose="020B0606020202030204" pitchFamily="34" charset="0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90333E39-51E8-F72B-422E-27F7FDD81A83}"/>
              </a:ext>
            </a:extLst>
          </p:cNvPr>
          <p:cNvSpPr txBox="1"/>
          <p:nvPr/>
        </p:nvSpPr>
        <p:spPr>
          <a:xfrm>
            <a:off x="8719085" y="3978892"/>
            <a:ext cx="19593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1200" b="1" dirty="0"/>
              <a:t>Mise en page responsive avec le </a:t>
            </a:r>
            <a:r>
              <a:rPr lang="fr-SN" sz="1200" b="1" dirty="0" err="1"/>
              <a:t>Grid</a:t>
            </a:r>
            <a:r>
              <a:rPr lang="fr-SN" sz="1200" b="1" dirty="0"/>
              <a:t> System. Création de la barre de navigation. Utilisation des </a:t>
            </a:r>
            <a:r>
              <a:rPr lang="fr-SN" sz="1200" b="1" dirty="0" err="1"/>
              <a:t>Cards</a:t>
            </a:r>
            <a:r>
              <a:rPr lang="fr-SN" sz="1200" b="1" dirty="0"/>
              <a:t> et formulaires. Adaptation aux mobiles et ordinateurs.</a:t>
            </a:r>
          </a:p>
        </p:txBody>
      </p:sp>
    </p:spTree>
    <p:extLst>
      <p:ext uri="{BB962C8B-B14F-4D97-AF65-F5344CB8AC3E}">
        <p14:creationId xmlns:p14="http://schemas.microsoft.com/office/powerpoint/2010/main" val="311357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9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9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9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9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 animBg="1"/>
      <p:bldP spid="19" grpId="0" animBg="1"/>
      <p:bldP spid="25" grpId="0" animBg="1"/>
      <p:bldP spid="26" grpId="0" animBg="1"/>
      <p:bldP spid="40" grpId="0" animBg="1"/>
      <p:bldP spid="41" grpId="0" animBg="1"/>
      <p:bldP spid="42" grpId="0" animBg="1"/>
      <p:bldP spid="43" grpId="0" animBg="1"/>
      <p:bldP spid="46" grpId="0"/>
      <p:bldP spid="47" grpId="0"/>
      <p:bldP spid="49" grpId="0"/>
      <p:bldP spid="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F541-3DA6-FDF8-BAF9-30B5759F6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39AC128-0C99-0411-DBD9-CBECD7133DDC}"/>
              </a:ext>
            </a:extLst>
          </p:cNvPr>
          <p:cNvGrpSpPr/>
          <p:nvPr/>
        </p:nvGrpSpPr>
        <p:grpSpPr>
          <a:xfrm>
            <a:off x="2987835" y="359689"/>
            <a:ext cx="8022621" cy="833700"/>
            <a:chOff x="5047973" y="117312"/>
            <a:chExt cx="7259356" cy="8337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EC5613F-A646-A923-9A29-07B13B2B594D}"/>
                </a:ext>
              </a:extLst>
            </p:cNvPr>
            <p:cNvSpPr/>
            <p:nvPr/>
          </p:nvSpPr>
          <p:spPr>
            <a:xfrm>
              <a:off x="5047973" y="149407"/>
              <a:ext cx="5324469" cy="500641"/>
            </a:xfrm>
            <a:prstGeom prst="rect">
              <a:avLst/>
            </a:prstGeom>
            <a:solidFill>
              <a:schemeClr val="tx2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A3012ED2-89FB-B2C1-1559-22562A3EE598}"/>
                </a:ext>
              </a:extLst>
            </p:cNvPr>
            <p:cNvSpPr txBox="1"/>
            <p:nvPr/>
          </p:nvSpPr>
          <p:spPr>
            <a:xfrm>
              <a:off x="6211329" y="22945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SN" b="1" dirty="0"/>
                <a:t>Conclusion</a:t>
              </a:r>
              <a:r>
                <a:rPr lang="fr-SN" dirty="0"/>
                <a:t> 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9A34BBC-B336-E124-AFCA-FCAAA7FCDCD7}"/>
                </a:ext>
              </a:extLst>
            </p:cNvPr>
            <p:cNvSpPr/>
            <p:nvPr/>
          </p:nvSpPr>
          <p:spPr>
            <a:xfrm rot="2738765">
              <a:off x="10192164" y="126379"/>
              <a:ext cx="564830" cy="5466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SN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4D71F34-60C3-66D6-836D-B9C37CD607E8}"/>
                </a:ext>
              </a:extLst>
            </p:cNvPr>
            <p:cNvSpPr txBox="1"/>
            <p:nvPr/>
          </p:nvSpPr>
          <p:spPr>
            <a:xfrm>
              <a:off x="10233957" y="243126"/>
              <a:ext cx="7719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04</a:t>
              </a:r>
            </a:p>
            <a:p>
              <a:endParaRPr lang="fr-SN" sz="2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33711985-DDC8-FEBB-0718-F1F4A4E7C26F}"/>
              </a:ext>
            </a:extLst>
          </p:cNvPr>
          <p:cNvSpPr txBox="1"/>
          <p:nvPr/>
        </p:nvSpPr>
        <p:spPr>
          <a:xfrm>
            <a:off x="1102854" y="1803546"/>
            <a:ext cx="99862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sz="2000" b="1" dirty="0" err="1"/>
              <a:t>AfriTalent</a:t>
            </a:r>
            <a:r>
              <a:rPr lang="fr-SN" sz="2000" b="1" dirty="0"/>
              <a:t> est une plateforme vitrine dédiée à la mise en relation entre freelances tech africains et entreprises. Le projet a permis d'appliquer les compétences acquises en HTML5, CSS3, Bootstrap 5, JavaScript, Git et GitHub. Les objectifs fixés ont été atteints avec la réalisation d'un site moderne, responsive et interactif.</a:t>
            </a:r>
          </a:p>
        </p:txBody>
      </p:sp>
    </p:spTree>
    <p:extLst>
      <p:ext uri="{BB962C8B-B14F-4D97-AF65-F5344CB8AC3E}">
        <p14:creationId xmlns:p14="http://schemas.microsoft.com/office/powerpoint/2010/main" val="1055060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17F6-9C30-E2D3-CC10-FD8DC939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23A823A-03AA-56D6-F9AD-803E2BEA4377}"/>
              </a:ext>
            </a:extLst>
          </p:cNvPr>
          <p:cNvSpPr txBox="1"/>
          <p:nvPr/>
        </p:nvSpPr>
        <p:spPr>
          <a:xfrm>
            <a:off x="4724400" y="2228850"/>
            <a:ext cx="88963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French Script MT" panose="03020402040607040605" pitchFamily="66" charset="0"/>
              </a:rPr>
              <a:t>Fin</a:t>
            </a:r>
            <a:endParaRPr lang="fr-SN" sz="9600" b="1" dirty="0">
              <a:latin typeface="French Script MT" panose="030204020406070406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1151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666</TotalTime>
  <Words>522</Words>
  <Application>Microsoft Office PowerPoint</Application>
  <PresentationFormat>Grand écran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Arial Narrow</vt:lpstr>
      <vt:lpstr>Calibri</vt:lpstr>
      <vt:lpstr>Calibri Light</vt:lpstr>
      <vt:lpstr>French Script MT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tidiane sow</dc:creator>
  <cp:lastModifiedBy>tidiane sow</cp:lastModifiedBy>
  <cp:revision>2</cp:revision>
  <dcterms:created xsi:type="dcterms:W3CDTF">2026-06-17T08:32:54Z</dcterms:created>
  <dcterms:modified xsi:type="dcterms:W3CDTF">2026-06-17T20:28:10Z</dcterms:modified>
</cp:coreProperties>
</file>